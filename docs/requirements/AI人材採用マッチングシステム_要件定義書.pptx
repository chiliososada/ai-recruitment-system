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CADCFC"/>
                </a:solidFill>
                <a:latin typeface="Yu Gothic"/>
              </a:rPr>
              <a:t>要件定義書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Yu Gothic"/>
              </a:rPr>
              <a:t>AI人材採用マッチングシステム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CADCFC"/>
                </a:solidFill>
                <a:latin typeface="Yu Gothic"/>
              </a:rPr>
              <a:t>AIによる人材と求人の高精度マッチング基盤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572000"/>
            <a:ext cx="4206240" cy="18288"/>
          </a:xfrm>
          <a:prstGeom prst="rect">
            <a:avLst/>
          </a:prstGeom>
          <a:solidFill>
            <a:srgbClr val="445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Yu Gothic"/>
              </a:rPr>
              <a:t>ケイスタンプ株式会社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ADCFC"/>
                </a:solidFill>
                <a:latin typeface="Yu Gothic"/>
              </a:rPr>
              <a:t>版数 1.0 ／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B2455"/>
                </a:solidFill>
                <a:latin typeface="Yu Gothic"/>
              </a:rPr>
              <a:t>目次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18488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12937"/>
                </a:solidFill>
                <a:latin typeface="Yu Gothic"/>
              </a:rPr>
              <a:t>背景・課題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487168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51175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12937"/>
                </a:solidFill>
                <a:latin typeface="Yu Gothic"/>
              </a:rPr>
              <a:t>目的・ゴール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419856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83864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12937"/>
                </a:solidFill>
                <a:latin typeface="Yu Gothic"/>
              </a:rPr>
              <a:t>対象ユーザーとロール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352544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416552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12937"/>
                </a:solidFill>
                <a:latin typeface="Yu Gothic"/>
              </a:rPr>
              <a:t>スコープ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285232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349240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12937"/>
                </a:solidFill>
                <a:latin typeface="Yu Gothic"/>
              </a:rPr>
              <a:t>業務フロー</a:t>
            </a:r>
          </a:p>
        </p:txBody>
      </p:sp>
      <p:sp>
        <p:nvSpPr>
          <p:cNvPr id="15" name="Oval 14"/>
          <p:cNvSpPr/>
          <p:nvPr/>
        </p:nvSpPr>
        <p:spPr>
          <a:xfrm>
            <a:off x="6309360" y="155448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618488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12937"/>
                </a:solidFill>
                <a:latin typeface="Yu Gothic"/>
              </a:rPr>
              <a:t>機能要件(FR-01〜FR-10)</a:t>
            </a:r>
          </a:p>
        </p:txBody>
      </p:sp>
      <p:sp>
        <p:nvSpPr>
          <p:cNvPr id="17" name="Oval 16"/>
          <p:cNvSpPr/>
          <p:nvPr/>
        </p:nvSpPr>
        <p:spPr>
          <a:xfrm>
            <a:off x="6309360" y="2487168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551175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12937"/>
                </a:solidFill>
                <a:latin typeface="Yu Gothic"/>
              </a:rPr>
              <a:t>AIマッチング要件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3419856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483864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12937"/>
                </a:solidFill>
                <a:latin typeface="Yu Gothic"/>
              </a:rPr>
              <a:t>非機能要件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4352544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416552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12937"/>
                </a:solidFill>
                <a:latin typeface="Yu Gothic"/>
              </a:rPr>
              <a:t>システム全体像</a:t>
            </a:r>
          </a:p>
        </p:txBody>
      </p:sp>
      <p:sp>
        <p:nvSpPr>
          <p:cNvPr id="23" name="Oval 22"/>
          <p:cNvSpPr/>
          <p:nvPr/>
        </p:nvSpPr>
        <p:spPr>
          <a:xfrm>
            <a:off x="6309360" y="5285232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5349240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12937"/>
                </a:solidFill>
                <a:latin typeface="Yu Gothic"/>
              </a:rPr>
              <a:t>データ・外部連携・前提制約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Yu Gothic"/>
              </a:rPr>
              <a:t>ケイスタンプ株式会社 ｜ AI人材採用マッチングシステム 要件定義書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5720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Yu Gothic"/>
              </a:rPr>
              <a:t>DOCUMENT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749808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B2455"/>
                </a:solidFill>
                <a:latin typeface="Yu Gothic"/>
              </a:rPr>
              <a:t>改訂履歴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1338560" cy="457200"/>
          </a:xfrm>
          <a:prstGeom prst="rect">
            <a:avLst/>
          </a:prstGeom>
          <a:solidFill>
            <a:srgbClr val="1B2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80136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Yu Gothic"/>
              </a:rPr>
              <a:t>版数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79" y="180136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Yu Gothic"/>
              </a:rPr>
              <a:t>日付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79" y="180136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Yu Gothic"/>
              </a:rPr>
              <a:t>変更区分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79" y="180136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Yu Gothic"/>
              </a:rPr>
              <a:t>変更内容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180136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Yu Gothic"/>
              </a:rPr>
              <a:t>作成者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194560"/>
            <a:ext cx="11338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19" y="2286000"/>
            <a:ext cx="1143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12937"/>
                </a:solidFill>
                <a:latin typeface="Yu Gothic"/>
              </a:rPr>
              <a:t>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79" y="2286000"/>
            <a:ext cx="1691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12937"/>
                </a:solidFill>
                <a:latin typeface="Yu Gothic"/>
              </a:rPr>
              <a:t>2026-06-20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79" y="2286000"/>
            <a:ext cx="1691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12937"/>
                </a:solidFill>
                <a:latin typeface="Yu Gothic"/>
              </a:rPr>
              <a:t>新規作成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79" y="2286000"/>
            <a:ext cx="4434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12937"/>
                </a:solidFill>
                <a:latin typeface="Yu Gothic"/>
              </a:rPr>
              <a:t>初版。背景・目的、対象ユーザー、スコープ、業務フロー、機能要件(FR-01〜10)、非機能要件、全体像を定義した。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2286000"/>
            <a:ext cx="1691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12937"/>
                </a:solidFill>
                <a:latin typeface="Yu Gothic"/>
              </a:rPr>
              <a:t>ケイスタンプ株式会社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20440"/>
            <a:ext cx="11338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Yu Gothic"/>
              </a:rPr>
              <a:t>※ 本書はケイスタンプ株式会社が、対象システムの要件を定義したものである。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Yu Gothic"/>
              </a:rPr>
              <a:t>ケイスタンプ株式会社 ｜ AI人材採用マッチングシステム 要件定義書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5720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Yu Gothic"/>
              </a:rP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749808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B2455"/>
                </a:solidFill>
                <a:latin typeface="Yu Gothic"/>
              </a:rPr>
              <a:t>背景・課題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13385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47672"/>
            <a:ext cx="420624" cy="42062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837944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2455"/>
                </a:solidFill>
                <a:latin typeface="Yu Gothic"/>
              </a:rPr>
              <a:t>ミスマッチ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167128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12937"/>
                </a:solidFill>
                <a:latin typeface="Yu Gothic"/>
              </a:rPr>
              <a:t>求人票と職務経歴の適合判断が定性的で、ミスマッチが生じやすい。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70632"/>
            <a:ext cx="113385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026664"/>
            <a:ext cx="420624" cy="42062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2916936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2455"/>
                </a:solidFill>
                <a:latin typeface="Yu Gothic"/>
              </a:rPr>
              <a:t>選考工数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246120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12937"/>
                </a:solidFill>
                <a:latin typeface="Yu Gothic"/>
              </a:rPr>
              <a:t>母集団形成・スクリーニング・選考の工数が大きく、属人化している。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9624"/>
            <a:ext cx="113385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4105656"/>
            <a:ext cx="420624" cy="42062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3995928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2455"/>
                </a:solidFill>
                <a:latin typeface="Yu Gothic"/>
              </a:rPr>
              <a:t>説明性の不足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325112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12937"/>
                </a:solidFill>
                <a:latin typeface="Yu Gothic"/>
              </a:rPr>
              <a:t>適合度を客観的・説明可能に示す指標が不足している。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928616"/>
            <a:ext cx="113385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5184648"/>
            <a:ext cx="420624" cy="42062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5074920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2455"/>
                </a:solidFill>
                <a:latin typeface="Yu Gothic"/>
              </a:rPr>
              <a:t>多言語・保護要請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404104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12937"/>
                </a:solidFill>
                <a:latin typeface="Yu Gothic"/>
              </a:rPr>
              <a:t>日英中の多言語対応と、個人情報保護・権限分離の要請が高い。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Yu Gothic"/>
              </a:rPr>
              <a:t>ケイスタンプ株式会社 ｜ AI人材採用マッチングシステム 要件定義書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5720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Yu Gothic"/>
              </a:rPr>
              <a:t>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749808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B2455"/>
                </a:solidFill>
                <a:latin typeface="Yu Gothic"/>
              </a:rPr>
              <a:t>目的・ゴール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7899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500" b="0">
                <a:solidFill>
                  <a:srgbClr val="212937"/>
                </a:solidFill>
                <a:latin typeface="Yu Gothic"/>
              </a:rPr>
              <a:t>履歴書からスキルを構造化抽出し、求人と候補者を双方向に高精度マッチングすることを目的とする。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500" b="0">
                <a:solidFill>
                  <a:srgbClr val="212937"/>
                </a:solidFill>
                <a:latin typeface="Yu Gothic"/>
              </a:rPr>
              <a:t>一致スキル・不足スキル・理由を伴う説明可能なスコアで、選考判断を支援する。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500" b="0">
                <a:solidFill>
                  <a:srgbClr val="212937"/>
                </a:solidFill>
                <a:latin typeface="Yu Gothic"/>
              </a:rPr>
              <a:t>行レベル権限分離による安全性と、4言語対応による利用体験の向上を実現する。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33832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4F46E5"/>
                </a:solidFill>
                <a:latin typeface="Yu Gothic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3492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12937"/>
                </a:solidFill>
                <a:latin typeface="Yu Gothic"/>
              </a:rPr>
              <a:t>機能要件 (FR-01〜10)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114800"/>
            <a:ext cx="33832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429768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4F46E5"/>
                </a:solidFill>
                <a:latin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53492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12937"/>
                </a:solidFill>
                <a:latin typeface="Yu Gothic"/>
              </a:rPr>
              <a:t>対応言語 (ja/en/zh-CN/zh-TW)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114800"/>
            <a:ext cx="33832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29768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4F46E5"/>
                </a:solidFill>
                <a:latin typeface="Yu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53492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12937"/>
                </a:solidFill>
                <a:latin typeface="Yu Gothic"/>
              </a:rPr>
              <a:t>利用ロール (求職者/企業)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Yu Gothic"/>
              </a:rPr>
              <a:t>ケイスタンプ株式会社 ｜ AI人材採用マッチングシステム 要件定義書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5720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Yu Gothic"/>
              </a:rPr>
              <a:t>USERS &amp;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749808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B2455"/>
                </a:solidFill>
                <a:latin typeface="Yu Gothic"/>
              </a:rPr>
              <a:t>対象ユーザーとロール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4406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128016" cy="1920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196596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B2455"/>
                </a:solidFill>
                <a:latin typeface="Yu Gothic"/>
              </a:rPr>
              <a:t>求職者</a:t>
            </a:r>
            <a:r>
              <a:rPr sz="1100" b="0">
                <a:solidFill>
                  <a:srgbClr val="6B7280"/>
                </a:solidFill>
                <a:latin typeface="Yu Gothic"/>
              </a:rPr>
              <a:t>　job_seeker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2560320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12937"/>
                </a:solidFill>
                <a:latin typeface="Yu Gothic"/>
              </a:rPr>
              <a:t>履歴書登録、AIスキル分析、推薦閲覧、応募、メッセージ、面接対応を行う。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737360"/>
            <a:ext cx="54406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37360"/>
            <a:ext cx="128016" cy="19202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B2455"/>
                </a:solidFill>
                <a:latin typeface="Yu Gothic"/>
              </a:rPr>
              <a:t>企業担当者</a:t>
            </a:r>
            <a:r>
              <a:rPr sz="1100" b="0">
                <a:solidFill>
                  <a:srgbClr val="6B7280"/>
                </a:solidFill>
                <a:latin typeface="Yu Gothic"/>
              </a:rPr>
              <a:t>　company_member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560320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12937"/>
                </a:solidFill>
                <a:latin typeface="Yu Gothic"/>
              </a:rPr>
              <a:t>企業・求人管理、人材検索、選考、面接提案、採用判断を行う。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86200"/>
            <a:ext cx="54406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886200"/>
            <a:ext cx="128016" cy="1920240"/>
          </a:xfrm>
          <a:prstGeom prst="rect">
            <a:avLst/>
          </a:prstGeom>
          <a:solidFill>
            <a:srgbClr val="27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19" y="41148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B2455"/>
                </a:solidFill>
                <a:latin typeface="Yu Gothic"/>
              </a:rPr>
              <a:t>未認証</a:t>
            </a:r>
            <a:r>
              <a:rPr sz="1100" b="0">
                <a:solidFill>
                  <a:srgbClr val="6B7280"/>
                </a:solidFill>
                <a:latin typeface="Yu Gothic"/>
              </a:rPr>
              <a:t>　anonymous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19" y="4709160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12937"/>
                </a:solidFill>
                <a:latin typeface="Yu Gothic"/>
              </a:rPr>
              <a:t>公開求人・公開企業の閲覧のみを行う。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86200"/>
            <a:ext cx="54406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886200"/>
            <a:ext cx="128016" cy="192024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1148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B2455"/>
                </a:solidFill>
                <a:latin typeface="Yu Gothic"/>
              </a:rPr>
              <a:t>運用</a:t>
            </a:r>
            <a:r>
              <a:rPr sz="1100" b="0">
                <a:solidFill>
                  <a:srgbClr val="6B7280"/>
                </a:solidFill>
                <a:latin typeface="Yu Gothic"/>
              </a:rPr>
              <a:t>　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709160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12937"/>
                </a:solidFill>
                <a:latin typeface="Yu Gothic"/>
              </a:rPr>
              <a:t>解析等の内部処理を担う信頼経路である(権限を限定)。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Yu Gothic"/>
              </a:rPr>
              <a:t>ケイスタンプ株式会社 ｜ AI人材採用マッチングシステム 要件定義書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5720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Yu Gothic"/>
              </a:rPr>
              <a:t>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749808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B2455"/>
                </a:solidFill>
                <a:latin typeface="Yu Gothic"/>
              </a:rPr>
              <a:t>スコープ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4864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5486400" cy="5486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Yu Gothic"/>
              </a:rPr>
              <a:t>対象(In Scope)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50292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250" b="0">
                <a:solidFill>
                  <a:srgbClr val="212937"/>
                </a:solidFill>
                <a:latin typeface="Yu Gothic"/>
              </a:rPr>
              <a:t>FR-01 認証・ユーザー管理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250" b="0">
                <a:solidFill>
                  <a:srgbClr val="212937"/>
                </a:solidFill>
                <a:latin typeface="Yu Gothic"/>
              </a:rPr>
              <a:t>FR-02 履歴書アップロード・解析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250" b="0">
                <a:solidFill>
                  <a:srgbClr val="212937"/>
                </a:solidFill>
                <a:latin typeface="Yu Gothic"/>
              </a:rPr>
              <a:t>FR-03 AIスキル分析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250" b="0">
                <a:solidFill>
                  <a:srgbClr val="212937"/>
                </a:solidFill>
                <a:latin typeface="Yu Gothic"/>
              </a:rPr>
              <a:t>FR-04 企業・求人管理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250" b="0">
                <a:solidFill>
                  <a:srgbClr val="212937"/>
                </a:solidFill>
                <a:latin typeface="Yu Gothic"/>
              </a:rPr>
              <a:t>FR-05 AIマッチング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250" b="0">
                <a:solidFill>
                  <a:srgbClr val="212937"/>
                </a:solidFill>
                <a:latin typeface="Yu Gothic"/>
              </a:rPr>
              <a:t>FR-06 人材検索・候補者詳細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250" b="0">
                <a:solidFill>
                  <a:srgbClr val="212937"/>
                </a:solidFill>
                <a:latin typeface="Yu Gothic"/>
              </a:rPr>
              <a:t>FR-07 企業・求人検索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250" b="0">
                <a:solidFill>
                  <a:srgbClr val="212937"/>
                </a:solidFill>
                <a:latin typeface="Yu Gothic"/>
              </a:rPr>
              <a:t>FR-08 メッセージ・通知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250" b="0">
                <a:solidFill>
                  <a:srgbClr val="212937"/>
                </a:solidFill>
                <a:latin typeface="Yu Gothic"/>
              </a:rPr>
              <a:t>FR-09 多言語対応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250" b="0">
                <a:solidFill>
                  <a:srgbClr val="212937"/>
                </a:solidFill>
                <a:latin typeface="Yu Gothic"/>
              </a:rPr>
              <a:t>FR-10 候補者比較・面接・採用フロー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37360"/>
            <a:ext cx="53949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737360"/>
            <a:ext cx="5394960" cy="548640"/>
          </a:xfrm>
          <a:prstGeom prst="roundRect">
            <a:avLst/>
          </a:prstGeom>
          <a:solidFill>
            <a:srgbClr val="27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Yu Gothic"/>
              </a:rPr>
              <a:t>対象外(Out of Scope)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468880"/>
            <a:ext cx="49377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300" b="0">
                <a:solidFill>
                  <a:srgbClr val="212937"/>
                </a:solidFill>
                <a:latin typeface="Yu Gothic"/>
              </a:rPr>
              <a:t>課金・決済、給与計算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300" b="0">
                <a:solidFill>
                  <a:srgbClr val="212937"/>
                </a:solidFill>
                <a:latin typeface="Yu Gothic"/>
              </a:rPr>
              <a:t>外部求人媒体との連携(本書時点)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300" b="0">
                <a:solidFill>
                  <a:srgbClr val="212937"/>
                </a:solidFill>
                <a:latin typeface="Yu Gothic"/>
              </a:rPr>
              <a:t>SNSログイン連携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300" b="0">
                <a:solidFill>
                  <a:srgbClr val="212937"/>
                </a:solidFill>
                <a:latin typeface="Yu Gothic"/>
              </a:rPr>
              <a:t>ネイティブモバイルアプリ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300" b="0">
                <a:solidFill>
                  <a:srgbClr val="212937"/>
                </a:solidFill>
                <a:latin typeface="Yu Gothic"/>
              </a:rPr>
              <a:t>本番環境への実デプロイ(別途承認のうえ実施)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539496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Yu Gothic"/>
              </a:rPr>
              <a:t>※ 対象外項目は将来拡張として別途検討する。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Yu Gothic"/>
              </a:rPr>
              <a:t>ケイスタンプ株式会社 ｜ AI人材採用マッチングシステム 要件定義書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Yu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5720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Yu Gothic"/>
              </a:rPr>
              <a:t>BUSINESS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749808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B2455"/>
                </a:solidFill>
                <a:latin typeface="Yu Gothic"/>
              </a:rPr>
              <a:t>業務フロー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4F46E5"/>
                </a:solidFill>
                <a:latin typeface="Yu Gothic"/>
              </a:rPr>
              <a:t>求職者フロー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17830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169163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2455"/>
                </a:solidFill>
                <a:latin typeface="Yu Gothic"/>
              </a:rPr>
              <a:t>登録・確認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4872" y="2286000"/>
            <a:ext cx="64236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4F46E5"/>
                </a:solidFill>
                <a:latin typeface="Yu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28950" y="2286000"/>
            <a:ext cx="17830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74670" y="2286000"/>
            <a:ext cx="169163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2455"/>
                </a:solidFill>
                <a:latin typeface="Yu Gothic"/>
              </a:rPr>
              <a:t>履歴書登録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3742" y="2286000"/>
            <a:ext cx="64236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4F46E5"/>
                </a:solidFill>
                <a:latin typeface="Yu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17820" y="2286000"/>
            <a:ext cx="17830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63540" y="2286000"/>
            <a:ext cx="169163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2455"/>
                </a:solidFill>
                <a:latin typeface="Yu Gothic"/>
              </a:rPr>
              <a:t>AIスキル分析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2612" y="2286000"/>
            <a:ext cx="64236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4F46E5"/>
                </a:solidFill>
                <a:latin typeface="Yu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06690" y="2286000"/>
            <a:ext cx="17830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52410" y="2286000"/>
            <a:ext cx="169163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2455"/>
                </a:solidFill>
                <a:latin typeface="Yu Gothic"/>
              </a:rPr>
              <a:t>推薦・応募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1482" y="2286000"/>
            <a:ext cx="64236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4F46E5"/>
                </a:solidFill>
                <a:latin typeface="Yu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95559" y="2286000"/>
            <a:ext cx="17830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0" y="2286000"/>
            <a:ext cx="169163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2455"/>
                </a:solidFill>
                <a:latin typeface="Yu Gothic"/>
              </a:rPr>
              <a:t>面接・採用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D9488"/>
                </a:solidFill>
                <a:latin typeface="Yu Gothic"/>
              </a:rPr>
              <a:t>企業フロー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480560"/>
            <a:ext cx="17830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480560"/>
            <a:ext cx="169163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2455"/>
                </a:solidFill>
                <a:latin typeface="Yu Gothic"/>
              </a:rPr>
              <a:t>企業・求人作成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04872" y="4480560"/>
            <a:ext cx="64236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D9488"/>
                </a:solidFill>
                <a:latin typeface="Yu Gothic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28950" y="4480560"/>
            <a:ext cx="17830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74670" y="4480560"/>
            <a:ext cx="169163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2455"/>
                </a:solidFill>
                <a:latin typeface="Yu Gothic"/>
              </a:rPr>
              <a:t>人材検索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93742" y="4480560"/>
            <a:ext cx="64236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D9488"/>
                </a:solidFill>
                <a:latin typeface="Y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17820" y="4480560"/>
            <a:ext cx="17830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63540" y="4480560"/>
            <a:ext cx="169163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2455"/>
                </a:solidFill>
                <a:latin typeface="Yu Gothic"/>
              </a:rPr>
              <a:t>候補者選考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82612" y="4480560"/>
            <a:ext cx="64236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D9488"/>
                </a:solidFill>
                <a:latin typeface="Yu Gothic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06690" y="4480560"/>
            <a:ext cx="17830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52410" y="4480560"/>
            <a:ext cx="169163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2455"/>
                </a:solidFill>
                <a:latin typeface="Yu Gothic"/>
              </a:rPr>
              <a:t>面接提案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71482" y="4480560"/>
            <a:ext cx="64236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D9488"/>
                </a:solidFill>
                <a:latin typeface="Yu Gothic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95559" y="4480560"/>
            <a:ext cx="17830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0" y="4480560"/>
            <a:ext cx="169163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B2455"/>
                </a:solidFill>
                <a:latin typeface="Yu Gothic"/>
              </a:rPr>
              <a:t>採用判断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Yu Gothic"/>
              </a:rPr>
              <a:t>ケイスタンプ株式会社 ｜ AI人材採用マッチングシステム 要件定義書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Yu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5720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Yu Gothic"/>
              </a:rPr>
              <a:t>FUNCTIONAL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749808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B2455"/>
                </a:solidFill>
                <a:latin typeface="Yu Gothic"/>
              </a:rPr>
              <a:t>機能要件 (FR-01〜FR-05)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1338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837944"/>
            <a:ext cx="868680" cy="457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FR-01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783080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B2455"/>
                </a:solidFill>
                <a:latin typeface="Yu Gothic"/>
              </a:rPr>
              <a:t>認証・ユーザー管理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875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12937"/>
                </a:solidFill>
                <a:latin typeface="Yu Gothic"/>
              </a:rPr>
              <a:t>登録・ログイン・メール確認・アカウント更新。求職者/企業の二ロールを管理する。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11338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2706624"/>
            <a:ext cx="868680" cy="457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FR-02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651760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B2455"/>
                </a:solidFill>
                <a:latin typeface="Yu Gothic"/>
              </a:rPr>
              <a:t>履歴書アップロード・解析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971800"/>
            <a:ext cx="9875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12937"/>
                </a:solidFill>
                <a:latin typeface="Yu Gothic"/>
              </a:rPr>
              <a:t>PDF/DOCXを検証・ウイルススキャンし、テキスト抽出と解析を非同期に行う。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29000"/>
            <a:ext cx="11338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3575304"/>
            <a:ext cx="868680" cy="457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FR-03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520440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B2455"/>
                </a:solidFill>
                <a:latin typeface="Yu Gothic"/>
              </a:rPr>
              <a:t>AIスキル分析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840480"/>
            <a:ext cx="9875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12937"/>
                </a:solidFill>
                <a:latin typeface="Yu Gothic"/>
              </a:rPr>
              <a:t>スキル・熟練度・経験年数・キャリア提案・推奨学習を抽出し、可視化する。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97679"/>
            <a:ext cx="11338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" y="4443983"/>
            <a:ext cx="868680" cy="457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FR-04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389119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B2455"/>
                </a:solidFill>
                <a:latin typeface="Yu Gothic"/>
              </a:rPr>
              <a:t>企業・求人管理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709159"/>
            <a:ext cx="9875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12937"/>
                </a:solidFill>
                <a:latin typeface="Yu Gothic"/>
              </a:rPr>
              <a:t>企業の作成・更新、求人のCRUDと公開範囲(下書き/公開・公開/非公開)を管理する。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166360"/>
            <a:ext cx="11338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1248" y="5312664"/>
            <a:ext cx="868680" cy="457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FR-05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257800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B2455"/>
                </a:solidFill>
                <a:latin typeface="Yu Gothic"/>
              </a:rPr>
              <a:t>AIマッチング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5577840"/>
            <a:ext cx="9875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12937"/>
                </a:solidFill>
                <a:latin typeface="Yu Gothic"/>
              </a:rPr>
              <a:t>ベクトル近傍探索とルール加重で、説明可能な適合度スコアを算定する。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Yu Gothic"/>
              </a:rPr>
              <a:t>ケイスタンプ株式会社 ｜ AI人材採用マッチングシステム 要件定義書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Yu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5720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Yu Gothic"/>
              </a:rPr>
              <a:t>FUNCTIONAL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749808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B2455"/>
                </a:solidFill>
                <a:latin typeface="Yu Gothic"/>
              </a:rPr>
              <a:t>機能要件 (FR-06〜FR-10)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1338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837944"/>
            <a:ext cx="868680" cy="457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FR-06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783080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B2455"/>
                </a:solidFill>
                <a:latin typeface="Yu Gothic"/>
              </a:rPr>
              <a:t>人材検索・候補者詳細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875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12937"/>
                </a:solidFill>
                <a:latin typeface="Yu Gothic"/>
              </a:rPr>
              <a:t>企業が候補者を検索・絞り込み・比較し、関係成立時のみ連絡先等を開示する。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11338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2706624"/>
            <a:ext cx="868680" cy="457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FR-07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651760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B2455"/>
                </a:solidFill>
                <a:latin typeface="Yu Gothic"/>
              </a:rPr>
              <a:t>企業・求人検索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971800"/>
            <a:ext cx="9875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12937"/>
                </a:solidFill>
                <a:latin typeface="Yu Gothic"/>
              </a:rPr>
              <a:t>公開求人・公開企業の検索・絞り込み・ページングを未認証でも提供する。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29000"/>
            <a:ext cx="11338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3575304"/>
            <a:ext cx="868680" cy="457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FR-08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520440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B2455"/>
                </a:solidFill>
                <a:latin typeface="Yu Gothic"/>
              </a:rPr>
              <a:t>メッセージ・通知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840480"/>
            <a:ext cx="9875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12937"/>
                </a:solidFill>
                <a:latin typeface="Yu Gothic"/>
              </a:rPr>
              <a:t>スレッド型メッセージ、未読管理、応募・面接等のイベント通知を提供する。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97679"/>
            <a:ext cx="11338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" y="4443983"/>
            <a:ext cx="868680" cy="457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FR-09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389119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B2455"/>
                </a:solidFill>
                <a:latin typeface="Yu Gothic"/>
              </a:rPr>
              <a:t>多言語対応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709159"/>
            <a:ext cx="9875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12937"/>
                </a:solidFill>
                <a:latin typeface="Yu Gothic"/>
              </a:rPr>
              <a:t>ja/en/zh-CN/zh-TW の4言語でUIとエラーを提供し、辞書整合を担保する。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166360"/>
            <a:ext cx="11338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1248" y="5312664"/>
            <a:ext cx="868680" cy="457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FR-10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257800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B2455"/>
                </a:solidFill>
                <a:latin typeface="Yu Gothic"/>
              </a:rPr>
              <a:t>候補者比較・面接・採用フロー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5577840"/>
            <a:ext cx="9875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12937"/>
                </a:solidFill>
                <a:latin typeface="Yu Gothic"/>
              </a:rPr>
              <a:t>応募の段階遷移、ショートリスト、候補者比較、面接提案・応答を管理する。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Yu Gothic"/>
              </a:rPr>
              <a:t>ケイスタンプ株式会社 ｜ AI人材採用マッチングシステム 要件定義書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Yu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5720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Yu Gothic"/>
              </a:rPr>
              <a:t>AI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749808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B2455"/>
                </a:solidFill>
                <a:latin typeface="Yu Gothic"/>
              </a:rPr>
              <a:t>AIマッチング要件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8813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450" b="0">
                <a:solidFill>
                  <a:srgbClr val="212937"/>
                </a:solidFill>
                <a:latin typeface="Yu Gothic"/>
              </a:rPr>
              <a:t>履歴書テキストから、スキル・経験年数・キャリア提案を構造化抽出する(スキーマ検証を行う)。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450" b="0">
                <a:solidFill>
                  <a:srgbClr val="212937"/>
                </a:solidFill>
                <a:latin typeface="Yu Gothic"/>
              </a:rPr>
              <a:t>候補者・求人を384次元のベクトルへ符号化し、pgvectorの近傍探索で母集団を抽出する。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450" b="0">
                <a:solidFill>
                  <a:srgbClr val="212937"/>
                </a:solidFill>
                <a:latin typeface="Yu Gothic"/>
              </a:rPr>
              <a:t>スキル・経験・給与・勤務地・言語・ベクトル類似度の加重により、0〜100の適合度を算定する。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450" b="0">
                <a:solidFill>
                  <a:srgbClr val="212937"/>
                </a:solidFill>
                <a:latin typeface="Yu Gothic"/>
              </a:rPr>
              <a:t>スコアは決定論的かつ版管理され、一致/不足スキルと理由を提示する(説明可能性を担保する)。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450" b="0">
                <a:solidFill>
                  <a:srgbClr val="212937"/>
                </a:solidFill>
                <a:latin typeface="Yu Gothic"/>
              </a:rPr>
              <a:t>外部LLM障害時も、回路遮断・タイムアウト・再試行により処理の安定性を確保する。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937760"/>
            <a:ext cx="2103120" cy="1097280"/>
          </a:xfrm>
          <a:prstGeom prst="roundRect">
            <a:avLst/>
          </a:prstGeom>
          <a:solidFill>
            <a:srgbClr val="1B2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5074920"/>
            <a:ext cx="1920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Yu Gothic"/>
              </a:rPr>
              <a:t>入力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5440680"/>
            <a:ext cx="19202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ADCFC"/>
                </a:solidFill>
                <a:latin typeface="Yu Gothic"/>
              </a:rPr>
              <a:t>履歴書・プロフィール・求人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4937760"/>
            <a:ext cx="2971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D9488"/>
                </a:solidFill>
                <a:latin typeface="Yu Gothic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8939" y="4937760"/>
            <a:ext cx="2103120" cy="1097280"/>
          </a:xfrm>
          <a:prstGeom prst="roundRect">
            <a:avLst/>
          </a:prstGeom>
          <a:solidFill>
            <a:srgbClr val="27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0379" y="5074920"/>
            <a:ext cx="1920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Yu Gothic"/>
              </a:rPr>
              <a:t>解析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0379" y="5440680"/>
            <a:ext cx="19202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ADCFC"/>
                </a:solidFill>
                <a:latin typeface="Yu Gothic"/>
              </a:rPr>
              <a:t>スキル構造化(検証付き)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6340" y="4937760"/>
            <a:ext cx="2971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D9488"/>
                </a:solidFill>
                <a:latin typeface="Yu Gothic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4937760"/>
            <a:ext cx="2103120" cy="1097280"/>
          </a:xfrm>
          <a:prstGeom prst="roundRect">
            <a:avLst/>
          </a:prstGeom>
          <a:solidFill>
            <a:srgbClr val="1B2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5074920"/>
            <a:ext cx="1920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Yu Gothic"/>
              </a:rPr>
              <a:t>符号化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5440680"/>
            <a:ext cx="19202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ADCFC"/>
                </a:solidFill>
                <a:latin typeface="Yu Gothic"/>
              </a:rPr>
              <a:t>384次元ベクトル化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937760"/>
            <a:ext cx="2971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D9488"/>
                </a:solidFill>
                <a:latin typeface="Yu Gothic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66659" y="4937760"/>
            <a:ext cx="2103120" cy="1097280"/>
          </a:xfrm>
          <a:prstGeom prst="roundRect">
            <a:avLst/>
          </a:prstGeom>
          <a:solidFill>
            <a:srgbClr val="27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58099" y="5074920"/>
            <a:ext cx="1920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Yu Gothic"/>
              </a:rPr>
              <a:t>算定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8099" y="5440680"/>
            <a:ext cx="19202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ADCFC"/>
                </a:solidFill>
                <a:latin typeface="Yu Gothic"/>
              </a:rPr>
              <a:t>近傍探索＋加重スコア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4059" y="4937760"/>
            <a:ext cx="2971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D9488"/>
                </a:solidFill>
                <a:latin typeface="Yu Gothic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19" y="4937760"/>
            <a:ext cx="2103120" cy="1097280"/>
          </a:xfrm>
          <a:prstGeom prst="roundRect">
            <a:avLst/>
          </a:prstGeom>
          <a:solidFill>
            <a:srgbClr val="1B2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59" y="5074920"/>
            <a:ext cx="1920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Yu Gothic"/>
              </a:rPr>
              <a:t>出力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59" y="5440680"/>
            <a:ext cx="19202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ADCFC"/>
                </a:solidFill>
                <a:latin typeface="Yu Gothic"/>
              </a:rPr>
              <a:t>適合度・理由・一致/不足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Yu Gothic"/>
              </a:rPr>
              <a:t>ケイスタンプ株式会社 ｜ AI人材採用マッチングシステム 要件定義書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Yu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5720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Yu Gothic"/>
              </a:rPr>
              <a:t>NON-FUNCTIONAL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749808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B2455"/>
                </a:solidFill>
                <a:latin typeface="Yu Gothic"/>
              </a:rPr>
              <a:t>非機能要件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4406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109728" cy="9875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1051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B2455"/>
                </a:solidFill>
                <a:latin typeface="Yu Gothic"/>
              </a:rPr>
              <a:t>セキュリティ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12937"/>
                </a:solidFill>
                <a:latin typeface="Yu Gothic"/>
              </a:rPr>
              <a:t>行レベル権限分離(RLS)、厳格なHTTPヘッダ、経路別レート制限を行う。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91640"/>
            <a:ext cx="54406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691640"/>
            <a:ext cx="109728" cy="9875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81051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B2455"/>
                </a:solidFill>
                <a:latin typeface="Yu Gothic"/>
              </a:rPr>
              <a:t>プライバシー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1488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12937"/>
                </a:solidFill>
                <a:latin typeface="Yu Gothic"/>
              </a:rPr>
              <a:t>個人情報を最小化し、ログ秘匿と所有者限定アクセスを徹底する。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07208"/>
            <a:ext cx="54406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807208"/>
            <a:ext cx="109728" cy="9875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92608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B2455"/>
                </a:solidFill>
                <a:latin typeface="Yu Gothic"/>
              </a:rPr>
              <a:t>性能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6440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12937"/>
                </a:solidFill>
                <a:latin typeface="Yu Gothic"/>
              </a:rPr>
              <a:t>主要APIの低レイテンシと、フロント初期JSの容量予算を満たす。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807208"/>
            <a:ext cx="54406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807208"/>
            <a:ext cx="109728" cy="9875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92608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B2455"/>
                </a:solidFill>
                <a:latin typeface="Yu Gothic"/>
              </a:rPr>
              <a:t>可用性・信頼性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26440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12937"/>
                </a:solidFill>
                <a:latin typeface="Yu Gothic"/>
              </a:rPr>
              <a:t>障害耐性(回路遮断/再試行)、耐久ジョブ処理、安全な停止を行う。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22776"/>
            <a:ext cx="54406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922776"/>
            <a:ext cx="109728" cy="9875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04164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B2455"/>
                </a:solidFill>
                <a:latin typeface="Yu Gothic"/>
              </a:rPr>
              <a:t>多言語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379976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12937"/>
                </a:solidFill>
                <a:latin typeface="Yu Gothic"/>
              </a:rPr>
              <a:t>ja/en/zh-CN/zh-TW を全UIで提供する。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922776"/>
            <a:ext cx="54406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3922776"/>
            <a:ext cx="109728" cy="9875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04164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B2455"/>
                </a:solidFill>
                <a:latin typeface="Yu Gothic"/>
              </a:rPr>
              <a:t>アクセシビリティ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379976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12937"/>
                </a:solidFill>
                <a:latin typeface="Yu Gothic"/>
              </a:rPr>
              <a:t>WCAG 2.1 AA に準拠する。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038344"/>
            <a:ext cx="54406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038344"/>
            <a:ext cx="109728" cy="9875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15721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B2455"/>
                </a:solidFill>
                <a:latin typeface="Yu Gothic"/>
              </a:rPr>
              <a:t>可観測性・運用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49554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12937"/>
                </a:solidFill>
                <a:latin typeface="Yu Gothic"/>
              </a:rPr>
              <a:t>死活/受入監視、構造化ログ、相関IDを備える。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5038344"/>
            <a:ext cx="54406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5080" y="5038344"/>
            <a:ext cx="109728" cy="9875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515721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B2455"/>
                </a:solidFill>
                <a:latin typeface="Yu Gothic"/>
              </a:rPr>
              <a:t>拡張性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549554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12937"/>
                </a:solidFill>
                <a:latin typeface="Yu Gothic"/>
              </a:rPr>
              <a:t>ランタイム抽象化とアダプタにより、提供基盤を切替可能とする。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Yu Gothic"/>
              </a:rPr>
              <a:t>ケイスタンプ株式会社 ｜ AI人材採用マッチングシステム 要件定義書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Yu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5720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Yu Gothic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749808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B2455"/>
                </a:solidFill>
                <a:latin typeface="Yu Gothic"/>
              </a:rPr>
              <a:t>システム全体像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7680960" cy="786384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Yu Gothic"/>
              </a:rPr>
              <a:t>フロントエンド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847088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Yu Gothic"/>
              </a:rPr>
              <a:t>React SPA。多言語・レスポンシブ・デザインシステム。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51760"/>
            <a:ext cx="7680960" cy="786384"/>
          </a:xfrm>
          <a:prstGeom prst="roundRect">
            <a:avLst/>
          </a:prstGeom>
          <a:solidFill>
            <a:srgbClr val="27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61488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Yu Gothic"/>
              </a:rPr>
              <a:t>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761488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Yu Gothic"/>
              </a:rPr>
              <a:t>Fastify。入出力検証、リクエスト毎の権限コンテキスト、API契約公開。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66160"/>
            <a:ext cx="7680960" cy="786384"/>
          </a:xfrm>
          <a:prstGeom prst="roundRect">
            <a:avLst/>
          </a:prstGeom>
          <a:solidFill>
            <a:srgbClr val="1B2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75887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Yu Gothic"/>
              </a:rPr>
              <a:t>データ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675887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Yu Gothic"/>
              </a:rPr>
              <a:t>PostgreSQL + pgvector。全テーブルで行レベル権限分離(RLS)。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80560"/>
            <a:ext cx="7680960" cy="786384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590288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Yu Gothic"/>
              </a:rPr>
              <a:t>AI / 連携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590288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Yu Gothic"/>
              </a:rPr>
              <a:t>LLM・埋め込みアダプタ(外部プロバイダ切替)。決定論モックで検証可能。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1737360"/>
            <a:ext cx="3200400" cy="3621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1874519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2455"/>
                </a:solidFill>
                <a:latin typeface="Yu Gothic"/>
              </a:rPr>
              <a:t>2系統ランタイム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2331720"/>
            <a:ext cx="28346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100" b="0">
                <a:solidFill>
                  <a:srgbClr val="212937"/>
                </a:solidFill>
                <a:latin typeface="Yu Gothic"/>
              </a:rPr>
              <a:t>検証用: 内蔵DB+決定論モック(資格情報不要)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100" b="0">
                <a:solidFill>
                  <a:srgbClr val="212937"/>
                </a:solidFill>
                <a:latin typeface="Yu Gothic"/>
              </a:rPr>
              <a:t>本番: マネージドDB・認証・ストレージ・外部LLM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100" b="0">
                <a:solidFill>
                  <a:srgbClr val="212937"/>
                </a:solidFill>
                <a:latin typeface="Yu Gothic"/>
              </a:rPr>
              <a:t>同一コードで両系統を切替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77840"/>
            <a:ext cx="11338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Yu Gothic"/>
              </a:rPr>
              <a:t>認証基盤・オブジェクトストレージ・ウイルススキャンを外部サービスとして連携する。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Yu Gothic"/>
              </a:rPr>
              <a:t>ケイスタンプ株式会社 ｜ AI人材採用マッチングシステム 要件定義書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Yu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5720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Yu Gothic"/>
              </a:rPr>
              <a:t>DATA / INTEGRATION /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749808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B2455"/>
                </a:solidFill>
                <a:latin typeface="Yu Gothic"/>
              </a:rPr>
              <a:t>データ・外部連携・前提制約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B2455"/>
                </a:solidFill>
                <a:latin typeface="Yu Gothic"/>
              </a:rPr>
              <a:t>主要データ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12937"/>
                </a:solidFill>
                <a:latin typeface="Yu Gothic"/>
              </a:rPr>
              <a:t>ユーザー／候補者／履歴書／スキル分析／企業／求人／マッチング結果／応募／面接／会話／通知 を中核エンティティとする。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37360"/>
            <a:ext cx="53949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87451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B2455"/>
                </a:solidFill>
                <a:latin typeface="Yu Gothic"/>
              </a:rPr>
              <a:t>外部連携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228600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150" b="0">
                <a:solidFill>
                  <a:srgbClr val="212937"/>
                </a:solidFill>
                <a:latin typeface="Yu Gothic"/>
              </a:rPr>
              <a:t>外部LLM(Anthropic / OpenAI、設定で切替)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150" b="0">
                <a:solidFill>
                  <a:srgbClr val="212937"/>
                </a:solidFill>
                <a:latin typeface="Yu Gothic"/>
              </a:rPr>
              <a:t>埋め込み生成・ベクトル検索(pgvector)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150" b="0">
                <a:solidFill>
                  <a:srgbClr val="212937"/>
                </a:solidFill>
                <a:latin typeface="Yu Gothic"/>
              </a:rPr>
              <a:t>オブジェクトストレージ・認証基盤・ウイルススキャン(ClamAV)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23360"/>
            <a:ext cx="11155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605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B2455"/>
                </a:solidFill>
                <a:latin typeface="Yu Gothic"/>
              </a:rPr>
              <a:t>前提・制約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57200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250" b="0">
                <a:solidFill>
                  <a:srgbClr val="212937"/>
                </a:solidFill>
                <a:latin typeface="Yu Gothic"/>
              </a:rPr>
              <a:t>個人情報保護法等の関連法令を遵守する。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250" b="0">
                <a:solidFill>
                  <a:srgbClr val="212937"/>
                </a:solidFill>
                <a:latin typeface="Yu Gothic"/>
              </a:rPr>
              <a:t>データベース移行は追加専用(前進専用)とし、API・DTOは後方互換を維持する。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4F46E5"/>
                </a:solidFill>
                <a:latin typeface="Yu Gothic"/>
              </a:rPr>
              <a:t>•  </a:t>
            </a:r>
            <a:r>
              <a:rPr sz="1250" b="0">
                <a:solidFill>
                  <a:srgbClr val="212937"/>
                </a:solidFill>
                <a:latin typeface="Yu Gothic"/>
              </a:rPr>
              <a:t>本番環境への実デプロイ・課金リソースの作成は、別途承認のうえ実施する。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Yu Gothic"/>
              </a:rPr>
              <a:t>ケイスタンプ株式会社 ｜ AI人材採用マッチングシステム 要件定義書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Yu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Yu Gothic"/>
              </a:rPr>
              <a:t>まとめ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Yu Gothic"/>
              </a:rPr>
              <a:t>•  </a:t>
            </a:r>
            <a:r>
              <a:rPr sz="1600" b="0">
                <a:solidFill>
                  <a:srgbClr val="E6ECFB"/>
                </a:solidFill>
                <a:latin typeface="Yu Gothic"/>
              </a:rPr>
              <a:t>本要件定義は、FR-01〜FR-10 と非機能要件を定め、説明可能なAIマッチングと安全な権限分離を中核とする。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Yu Gothic"/>
              </a:rPr>
              <a:t>•  </a:t>
            </a:r>
            <a:r>
              <a:rPr sz="1600" b="0">
                <a:solidFill>
                  <a:srgbClr val="E6ECFB"/>
                </a:solidFill>
                <a:latin typeface="Yu Gothic"/>
              </a:rPr>
              <a:t>4言語対応とアクセシビリティを満たし、求職者・企業双方の体験向上を目指す。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Yu Gothic"/>
              </a:rPr>
              <a:t>ケイスタンプ株式会社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